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Fraud Detection MLOps Pipeline Architecture</a:t>
            </a:r>
          </a:p>
        </p:txBody>
      </p:sp>
      <p:sp>
        <p:nvSpPr>
          <p:cNvPr id="3" name="Subtitle 2"/>
          <p:cNvSpPr>
            <a:spLocks noGrp="1"/>
          </p:cNvSpPr>
          <p:nvPr>
            <p:ph type="subTitle" idx="1"/>
          </p:nvPr>
        </p:nvSpPr>
        <p:spPr/>
        <p:txBody>
          <a:bodyPr/>
          <a:lstStyle/>
          <a:p>
            <a:r>
              <a:t>Batch Processing • Prediction Studio • Alert 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7315200" cy="457200"/>
          </a:xfrm>
          <a:prstGeom prst="rect">
            <a:avLst/>
          </a:prstGeom>
          <a:noFill/>
        </p:spPr>
        <p:txBody>
          <a:bodyPr wrap="none">
            <a:spAutoFit/>
          </a:bodyPr>
          <a:lstStyle/>
          <a:p>
            <a:r>
              <a:t>End-to-End Fraud Detection Architecture</a:t>
            </a:r>
          </a:p>
        </p:txBody>
      </p:sp>
      <p:pic>
        <p:nvPicPr>
          <p:cNvPr id="3" name="Picture 2" descr="a_clean_infographic_architecture_diagram_on_a_whit.png"/>
          <p:cNvPicPr>
            <a:picLocks noChangeAspect="1"/>
          </p:cNvPicPr>
          <p:nvPr/>
        </p:nvPicPr>
        <p:blipFill>
          <a:blip r:embed="rId2"/>
          <a:stretch>
            <a:fillRect/>
          </a:stretch>
        </p:blipFill>
        <p:spPr>
          <a:xfrm>
            <a:off x="182880" y="731520"/>
            <a:ext cx="11430000" cy="7620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Detailed Pipeline Flow</a:t>
            </a:r>
          </a:p>
        </p:txBody>
      </p:sp>
      <p:sp>
        <p:nvSpPr>
          <p:cNvPr id="3" name="Content Placeholder 2"/>
          <p:cNvSpPr>
            <a:spLocks noGrp="1"/>
          </p:cNvSpPr>
          <p:nvPr>
            <p:ph idx="1"/>
          </p:nvPr>
        </p:nvSpPr>
        <p:spPr/>
        <p:txBody>
          <a:bodyPr/>
          <a:lstStyle/>
          <a:p>
            <a:r>
              <a:t>1. Pipeline Trigger (Daily 1 AM Scheduler)</a:t>
            </a:r>
          </a:p>
          <a:p>
            <a:r>
              <a:t>2. Data Ingestion from Claims, Policy, Customer &amp; External Sources</a:t>
            </a:r>
          </a:p>
          <a:p>
            <a:r>
              <a:t>3. Data Validation (schema, duplicates, missing values)</a:t>
            </a:r>
          </a:p>
          <a:p>
            <a:r>
              <a:t>4. Feature Engineering for fraud indicators</a:t>
            </a:r>
          </a:p>
          <a:p>
            <a:r>
              <a:t>5. Model Retraining on updated labelled data</a:t>
            </a:r>
          </a:p>
          <a:p>
            <a:r>
              <a:t>6. Model Evaluation (Precision, Recall, F1, ROC-AUC)</a:t>
            </a:r>
          </a:p>
          <a:p>
            <a:r>
              <a:t>7. Model Registry &amp; Versioning</a:t>
            </a:r>
          </a:p>
          <a:p>
            <a:r>
              <a:t>8. Batch Prediction &amp; Fraud Scoring</a:t>
            </a:r>
          </a:p>
          <a:p>
            <a:r>
              <a:t>9. Save Results to SQL / Blob / Data Lake</a:t>
            </a:r>
          </a:p>
          <a:p>
            <a:r>
              <a:t>10. Prediction Studio (Streamlit Dashboard)</a:t>
            </a:r>
          </a:p>
          <a:p>
            <a:r>
              <a:t>11. Alert System for failures and fraud spikes</a:t>
            </a:r>
          </a:p>
          <a:p>
            <a:r>
              <a:t>12. Monitoring &amp; Feedback Loop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Batch Processing Unit</a:t>
            </a:r>
          </a:p>
        </p:txBody>
      </p:sp>
      <p:sp>
        <p:nvSpPr>
          <p:cNvPr id="3" name="Content Placeholder 2"/>
          <p:cNvSpPr>
            <a:spLocks noGrp="1"/>
          </p:cNvSpPr>
          <p:nvPr>
            <p:ph idx="1"/>
          </p:nvPr>
        </p:nvSpPr>
        <p:spPr/>
        <p:txBody>
          <a:bodyPr/>
          <a:lstStyle/>
          <a:p>
            <a:r>
              <a:t>Scheduled daily at 1 AM IST</a:t>
            </a:r>
          </a:p>
          <a:p>
            <a:r>
              <a:t>Loads updated fraud and claims data</a:t>
            </a:r>
          </a:p>
          <a:p>
            <a:r>
              <a:t>Runs validation checks</a:t>
            </a:r>
          </a:p>
          <a:p>
            <a:r>
              <a:t>Creates engineered features</a:t>
            </a:r>
          </a:p>
          <a:p>
            <a:r>
              <a:t>Retrains fraud model</a:t>
            </a:r>
          </a:p>
          <a:p>
            <a:r>
              <a:t>Runs batch scoring</a:t>
            </a:r>
          </a:p>
          <a:p>
            <a:r>
              <a:t>Stores outputs and metrics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Prediction Studio</a:t>
            </a:r>
          </a:p>
        </p:txBody>
      </p:sp>
      <p:sp>
        <p:nvSpPr>
          <p:cNvPr id="3" name="Content Placeholder 2"/>
          <p:cNvSpPr>
            <a:spLocks noGrp="1"/>
          </p:cNvSpPr>
          <p:nvPr>
            <p:ph idx="1"/>
          </p:nvPr>
        </p:nvSpPr>
        <p:spPr/>
        <p:txBody>
          <a:bodyPr/>
          <a:lstStyle/>
          <a:p>
            <a:r>
              <a:t>Streamlit-based fraud analytics dashboard</a:t>
            </a:r>
          </a:p>
          <a:p>
            <a:r>
              <a:t>Upload &amp; Predict functionality</a:t>
            </a:r>
          </a:p>
          <a:p>
            <a:r>
              <a:t>High-risk case analysis</a:t>
            </a:r>
          </a:p>
          <a:p>
            <a:r>
              <a:t>Fraud trend monitoring</a:t>
            </a:r>
          </a:p>
          <a:p>
            <a:r>
              <a:t>Model performance tracking</a:t>
            </a:r>
          </a:p>
          <a:p>
            <a:r>
              <a:t>Download scored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Alert System</a:t>
            </a:r>
          </a:p>
        </p:txBody>
      </p:sp>
      <p:sp>
        <p:nvSpPr>
          <p:cNvPr id="3" name="Content Placeholder 2"/>
          <p:cNvSpPr>
            <a:spLocks noGrp="1"/>
          </p:cNvSpPr>
          <p:nvPr>
            <p:ph idx="1"/>
          </p:nvPr>
        </p:nvSpPr>
        <p:spPr/>
        <p:txBody>
          <a:bodyPr/>
          <a:lstStyle/>
          <a:p>
            <a:r>
              <a:t>Batch job failure alerts</a:t>
            </a:r>
          </a:p>
          <a:p>
            <a:r>
              <a:t>Fraud spike alerts</a:t>
            </a:r>
          </a:p>
          <a:p>
            <a:r>
              <a:t>High-risk fraud alerts</a:t>
            </a:r>
          </a:p>
          <a:p>
            <a:r>
              <a:t>Data drift alerts</a:t>
            </a:r>
          </a:p>
          <a:p>
            <a:r>
              <a:t>Low model performance alerts</a:t>
            </a:r>
          </a:p>
          <a:p>
            <a:r>
              <a:t>Email / Teams / Webhook notifications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Recommended Azure Services</a:t>
            </a:r>
          </a:p>
        </p:txBody>
      </p:sp>
      <p:sp>
        <p:nvSpPr>
          <p:cNvPr id="3" name="Content Placeholder 2"/>
          <p:cNvSpPr>
            <a:spLocks noGrp="1"/>
          </p:cNvSpPr>
          <p:nvPr>
            <p:ph idx="1"/>
          </p:nvPr>
        </p:nvSpPr>
        <p:spPr/>
        <p:txBody>
          <a:bodyPr/>
          <a:lstStyle/>
          <a:p>
            <a:r>
              <a:t>Azure Container Apps Job → Daily scheduled pipeline</a:t>
            </a:r>
          </a:p>
          <a:p>
            <a:r>
              <a:t>Azure Blob Storage / Azure SQL → Output storage</a:t>
            </a:r>
          </a:p>
          <a:p>
            <a:r>
              <a:t>Azure ML / MLflow → Model Registry</a:t>
            </a:r>
          </a:p>
          <a:p>
            <a:r>
              <a:t>Azure Monitor → Logs &amp; Metrics</a:t>
            </a:r>
          </a:p>
          <a:p>
            <a:r>
              <a:t>Azure Action Groups → Notifications</a:t>
            </a:r>
          </a:p>
          <a:p>
            <a:r>
              <a:t>Azure App Service → Streamlit Hosting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The fraud detection system operates as a scheduled batch MLOps pipeline. Every day at 1 AM, updated data is ingested, validated, transformed, and used to retrain the fraud model. The system performs batch scoring on new claims, stores outputs centrally, exposes insights through the Prediction Studio, and generates alerts for failures, fraud spikes, drift, and performance degradation.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